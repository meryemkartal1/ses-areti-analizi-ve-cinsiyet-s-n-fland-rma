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mo" panose="020B0604020202020204" charset="0"/>
      <p:regular r:id="rId9"/>
    </p:embeddedFont>
    <p:embeddedFont>
      <p:font typeface="เกณฑ์ Bold" panose="020B0604020202020204" charset="-3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5.png"/><Relationship Id="rId5" Type="http://schemas.openxmlformats.org/officeDocument/2006/relationships/image" Target="../media/image4.sv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0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3116" y="6807677"/>
            <a:ext cx="2746658" cy="2844938"/>
          </a:xfrm>
          <a:custGeom>
            <a:avLst/>
            <a:gdLst/>
            <a:ahLst/>
            <a:cxnLst/>
            <a:rect l="l" t="t" r="r" b="b"/>
            <a:pathLst>
              <a:path w="2746658" h="2844938">
                <a:moveTo>
                  <a:pt x="0" y="0"/>
                </a:moveTo>
                <a:lnTo>
                  <a:pt x="2746658" y="0"/>
                </a:lnTo>
                <a:lnTo>
                  <a:pt x="2746658" y="2844938"/>
                </a:lnTo>
                <a:lnTo>
                  <a:pt x="0" y="28449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 flipH="1">
            <a:off x="14275825" y="7804884"/>
            <a:ext cx="3278232" cy="1847731"/>
          </a:xfrm>
          <a:custGeom>
            <a:avLst/>
            <a:gdLst/>
            <a:ahLst/>
            <a:cxnLst/>
            <a:rect l="l" t="t" r="r" b="b"/>
            <a:pathLst>
              <a:path w="3278232" h="1847731">
                <a:moveTo>
                  <a:pt x="3278232" y="0"/>
                </a:moveTo>
                <a:lnTo>
                  <a:pt x="0" y="0"/>
                </a:lnTo>
                <a:lnTo>
                  <a:pt x="0" y="1847731"/>
                </a:lnTo>
                <a:lnTo>
                  <a:pt x="3278232" y="1847731"/>
                </a:lnTo>
                <a:lnTo>
                  <a:pt x="32782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 rot="2066375" flipH="1">
            <a:off x="1208645" y="642820"/>
            <a:ext cx="1655598" cy="2975748"/>
          </a:xfrm>
          <a:custGeom>
            <a:avLst/>
            <a:gdLst/>
            <a:ahLst/>
            <a:cxnLst/>
            <a:rect l="l" t="t" r="r" b="b"/>
            <a:pathLst>
              <a:path w="1655598" h="2975748">
                <a:moveTo>
                  <a:pt x="1655599" y="0"/>
                </a:moveTo>
                <a:lnTo>
                  <a:pt x="0" y="0"/>
                </a:lnTo>
                <a:lnTo>
                  <a:pt x="0" y="2975748"/>
                </a:lnTo>
                <a:lnTo>
                  <a:pt x="1655599" y="2975748"/>
                </a:lnTo>
                <a:lnTo>
                  <a:pt x="165559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 rot="-257350" flipH="1">
            <a:off x="14611546" y="700572"/>
            <a:ext cx="2860930" cy="2288744"/>
          </a:xfrm>
          <a:custGeom>
            <a:avLst/>
            <a:gdLst/>
            <a:ahLst/>
            <a:cxnLst/>
            <a:rect l="l" t="t" r="r" b="b"/>
            <a:pathLst>
              <a:path w="2860930" h="2288744">
                <a:moveTo>
                  <a:pt x="2860930" y="0"/>
                </a:moveTo>
                <a:lnTo>
                  <a:pt x="0" y="0"/>
                </a:lnTo>
                <a:lnTo>
                  <a:pt x="0" y="2288744"/>
                </a:lnTo>
                <a:lnTo>
                  <a:pt x="2860930" y="2288744"/>
                </a:lnTo>
                <a:lnTo>
                  <a:pt x="286093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3317269" y="1223835"/>
            <a:ext cx="10958556" cy="8034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94"/>
              </a:lnSpc>
            </a:pPr>
            <a:r>
              <a:rPr lang="en-US" sz="12194" b="1">
                <a:solidFill>
                  <a:srgbClr val="343537"/>
                </a:solidFill>
                <a:latin typeface="เกณฑ์ Bold"/>
                <a:ea typeface="เกณฑ์ Bold"/>
                <a:cs typeface="เกณฑ์ Bold"/>
                <a:sym typeface="เกณฑ์ Bold"/>
              </a:rPr>
              <a:t>METİNDEN SESE VE SESTEN METİNE DTMF UYGULAMASI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0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3116" y="7804884"/>
            <a:ext cx="1783900" cy="1847731"/>
          </a:xfrm>
          <a:custGeom>
            <a:avLst/>
            <a:gdLst/>
            <a:ahLst/>
            <a:cxnLst/>
            <a:rect l="l" t="t" r="r" b="b"/>
            <a:pathLst>
              <a:path w="1783900" h="1847731">
                <a:moveTo>
                  <a:pt x="0" y="0"/>
                </a:moveTo>
                <a:lnTo>
                  <a:pt x="1783900" y="0"/>
                </a:lnTo>
                <a:lnTo>
                  <a:pt x="1783900" y="1847731"/>
                </a:lnTo>
                <a:lnTo>
                  <a:pt x="0" y="1847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 flipH="1">
            <a:off x="15346814" y="8408533"/>
            <a:ext cx="2207243" cy="1244082"/>
          </a:xfrm>
          <a:custGeom>
            <a:avLst/>
            <a:gdLst/>
            <a:ahLst/>
            <a:cxnLst/>
            <a:rect l="l" t="t" r="r" b="b"/>
            <a:pathLst>
              <a:path w="2207243" h="1244082">
                <a:moveTo>
                  <a:pt x="2207243" y="0"/>
                </a:moveTo>
                <a:lnTo>
                  <a:pt x="0" y="0"/>
                </a:lnTo>
                <a:lnTo>
                  <a:pt x="0" y="1244082"/>
                </a:lnTo>
                <a:lnTo>
                  <a:pt x="2207243" y="1244082"/>
                </a:lnTo>
                <a:lnTo>
                  <a:pt x="22072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 rot="2066375" flipH="1">
            <a:off x="1103015" y="505289"/>
            <a:ext cx="1045872" cy="1879836"/>
          </a:xfrm>
          <a:custGeom>
            <a:avLst/>
            <a:gdLst/>
            <a:ahLst/>
            <a:cxnLst/>
            <a:rect l="l" t="t" r="r" b="b"/>
            <a:pathLst>
              <a:path w="1045872" h="1879836">
                <a:moveTo>
                  <a:pt x="1045873" y="0"/>
                </a:moveTo>
                <a:lnTo>
                  <a:pt x="0" y="0"/>
                </a:lnTo>
                <a:lnTo>
                  <a:pt x="0" y="1879836"/>
                </a:lnTo>
                <a:lnTo>
                  <a:pt x="1045873" y="1879836"/>
                </a:lnTo>
                <a:lnTo>
                  <a:pt x="104587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 rot="-257350" flipH="1">
            <a:off x="15684044" y="660410"/>
            <a:ext cx="1753759" cy="1403007"/>
          </a:xfrm>
          <a:custGeom>
            <a:avLst/>
            <a:gdLst/>
            <a:ahLst/>
            <a:cxnLst/>
            <a:rect l="l" t="t" r="r" b="b"/>
            <a:pathLst>
              <a:path w="1753759" h="1403007">
                <a:moveTo>
                  <a:pt x="1753759" y="0"/>
                </a:moveTo>
                <a:lnTo>
                  <a:pt x="0" y="0"/>
                </a:lnTo>
                <a:lnTo>
                  <a:pt x="0" y="1403007"/>
                </a:lnTo>
                <a:lnTo>
                  <a:pt x="1753759" y="1403007"/>
                </a:lnTo>
                <a:lnTo>
                  <a:pt x="175375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11099675" y="4044211"/>
            <a:ext cx="4534360" cy="4364322"/>
          </a:xfrm>
          <a:custGeom>
            <a:avLst/>
            <a:gdLst/>
            <a:ahLst/>
            <a:cxnLst/>
            <a:rect l="l" t="t" r="r" b="b"/>
            <a:pathLst>
              <a:path w="4534360" h="4364322">
                <a:moveTo>
                  <a:pt x="0" y="0"/>
                </a:moveTo>
                <a:lnTo>
                  <a:pt x="4534360" y="0"/>
                </a:lnTo>
                <a:lnTo>
                  <a:pt x="4534360" y="4364322"/>
                </a:lnTo>
                <a:lnTo>
                  <a:pt x="0" y="4364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3520890" y="2006651"/>
            <a:ext cx="11246221" cy="141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80"/>
              </a:lnSpc>
            </a:pPr>
            <a:r>
              <a:rPr lang="en-US" sz="9280" b="1">
                <a:solidFill>
                  <a:srgbClr val="343537"/>
                </a:solidFill>
                <a:latin typeface="เกณฑ์ Bold"/>
                <a:ea typeface="เกณฑ์ Bold"/>
                <a:cs typeface="เกณฑ์ Bold"/>
                <a:sym typeface="เกณฑ์ Bold"/>
              </a:rPr>
              <a:t>DTMF NEDİR?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00026" y="3564399"/>
            <a:ext cx="7346638" cy="622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3388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DTMF (Dual-Tone Multi-Frequency), günlük hayatta telefon tuşlarına bastığımızda duyduğumuz o farklı frekanstaki seslerin teknik adıdır. Türkçeye "Çift Tonlu Çoklu Frekans" olarak çevrilir.</a:t>
            </a:r>
          </a:p>
          <a:p>
            <a:pPr algn="l">
              <a:lnSpc>
                <a:spcPts val="3761"/>
              </a:lnSpc>
            </a:pPr>
            <a:r>
              <a:rPr lang="en-US" sz="3388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Eskiden çevirmeli telefonlarda kullanılan "darbeli (pulse)" sistemin yerini alan bu teknoloji, her tuşa basıldığında biri yüksek, diğeri düşük frekanslı iki farklı ses sinyalini aynı anda gönderir.</a:t>
            </a:r>
          </a:p>
          <a:p>
            <a:pPr algn="l">
              <a:lnSpc>
                <a:spcPts val="3761"/>
              </a:lnSpc>
            </a:pPr>
            <a:endParaRPr lang="en-US" sz="3388">
              <a:solidFill>
                <a:srgbClr val="343537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0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988839"/>
            <a:ext cx="1783900" cy="1847731"/>
          </a:xfrm>
          <a:custGeom>
            <a:avLst/>
            <a:gdLst/>
            <a:ahLst/>
            <a:cxnLst/>
            <a:rect l="l" t="t" r="r" b="b"/>
            <a:pathLst>
              <a:path w="1783900" h="1847731">
                <a:moveTo>
                  <a:pt x="0" y="0"/>
                </a:moveTo>
                <a:lnTo>
                  <a:pt x="1783900" y="0"/>
                </a:lnTo>
                <a:lnTo>
                  <a:pt x="1783900" y="1847731"/>
                </a:lnTo>
                <a:lnTo>
                  <a:pt x="0" y="1847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 dirty="0"/>
          </a:p>
        </p:txBody>
      </p:sp>
      <p:sp>
        <p:nvSpPr>
          <p:cNvPr id="3" name="Freeform 3"/>
          <p:cNvSpPr/>
          <p:nvPr/>
        </p:nvSpPr>
        <p:spPr>
          <a:xfrm flipH="1">
            <a:off x="15346814" y="8408533"/>
            <a:ext cx="2207243" cy="1244082"/>
          </a:xfrm>
          <a:custGeom>
            <a:avLst/>
            <a:gdLst/>
            <a:ahLst/>
            <a:cxnLst/>
            <a:rect l="l" t="t" r="r" b="b"/>
            <a:pathLst>
              <a:path w="2207243" h="1244082">
                <a:moveTo>
                  <a:pt x="2207243" y="0"/>
                </a:moveTo>
                <a:lnTo>
                  <a:pt x="0" y="0"/>
                </a:lnTo>
                <a:lnTo>
                  <a:pt x="0" y="1244082"/>
                </a:lnTo>
                <a:lnTo>
                  <a:pt x="2207243" y="1244082"/>
                </a:lnTo>
                <a:lnTo>
                  <a:pt x="22072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 rot="2066375" flipH="1">
            <a:off x="1103015" y="505289"/>
            <a:ext cx="1045872" cy="1879836"/>
          </a:xfrm>
          <a:custGeom>
            <a:avLst/>
            <a:gdLst/>
            <a:ahLst/>
            <a:cxnLst/>
            <a:rect l="l" t="t" r="r" b="b"/>
            <a:pathLst>
              <a:path w="1045872" h="1879836">
                <a:moveTo>
                  <a:pt x="1045873" y="0"/>
                </a:moveTo>
                <a:lnTo>
                  <a:pt x="0" y="0"/>
                </a:lnTo>
                <a:lnTo>
                  <a:pt x="0" y="1879836"/>
                </a:lnTo>
                <a:lnTo>
                  <a:pt x="1045873" y="1879836"/>
                </a:lnTo>
                <a:lnTo>
                  <a:pt x="104587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 rot="-257350" flipH="1">
            <a:off x="15684044" y="660410"/>
            <a:ext cx="1753759" cy="1403007"/>
          </a:xfrm>
          <a:custGeom>
            <a:avLst/>
            <a:gdLst/>
            <a:ahLst/>
            <a:cxnLst/>
            <a:rect l="l" t="t" r="r" b="b"/>
            <a:pathLst>
              <a:path w="1753759" h="1403007">
                <a:moveTo>
                  <a:pt x="1753759" y="0"/>
                </a:moveTo>
                <a:lnTo>
                  <a:pt x="0" y="0"/>
                </a:lnTo>
                <a:lnTo>
                  <a:pt x="0" y="1403007"/>
                </a:lnTo>
                <a:lnTo>
                  <a:pt x="1753759" y="1403007"/>
                </a:lnTo>
                <a:lnTo>
                  <a:pt x="175375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Freeform 6"/>
          <p:cNvSpPr/>
          <p:nvPr/>
        </p:nvSpPr>
        <p:spPr>
          <a:xfrm>
            <a:off x="10482734" y="2378054"/>
            <a:ext cx="7005079" cy="2765446"/>
          </a:xfrm>
          <a:custGeom>
            <a:avLst/>
            <a:gdLst/>
            <a:ahLst/>
            <a:cxnLst/>
            <a:rect l="l" t="t" r="r" b="b"/>
            <a:pathLst>
              <a:path w="7005079" h="2765446">
                <a:moveTo>
                  <a:pt x="0" y="0"/>
                </a:moveTo>
                <a:lnTo>
                  <a:pt x="7005079" y="0"/>
                </a:lnTo>
                <a:lnTo>
                  <a:pt x="7005079" y="2765446"/>
                </a:lnTo>
                <a:lnTo>
                  <a:pt x="0" y="27654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7" name="TextBox 7"/>
          <p:cNvSpPr txBox="1"/>
          <p:nvPr/>
        </p:nvSpPr>
        <p:spPr>
          <a:xfrm>
            <a:off x="3680636" y="738406"/>
            <a:ext cx="11246221" cy="1413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80"/>
              </a:lnSpc>
            </a:pPr>
            <a:r>
              <a:rPr lang="en-US" sz="9280" b="1" dirty="0">
                <a:solidFill>
                  <a:srgbClr val="343537"/>
                </a:solidFill>
                <a:latin typeface="เกณฑ์ Bold"/>
                <a:ea typeface="เกณฑ์ Bold"/>
                <a:cs typeface="เกณฑ์ Bold"/>
                <a:sym typeface="เกณฑ์ Bold"/>
              </a:rPr>
              <a:t>NASIL ÇALIŞIR?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4611" y="2378053"/>
            <a:ext cx="8723235" cy="6879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61"/>
              </a:lnSpc>
            </a:pP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DTMF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sistemi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telefon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tuş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takımını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matris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olarak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ele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alır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. Her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satırın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ve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her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sütunun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kendine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has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frekansı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vardır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. Bir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tuşa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bastığınızda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, o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tuşun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bulunduğu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satır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ve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sütuna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ait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iki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ses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birleşerek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tek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sinyal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600" dirty="0" err="1">
                <a:latin typeface="Arimo"/>
                <a:ea typeface="Arimo"/>
                <a:cs typeface="Arimo"/>
                <a:sym typeface="Arimo"/>
              </a:rPr>
              <a:t>oluşturur</a:t>
            </a:r>
            <a:r>
              <a:rPr lang="en-US" sz="2600" dirty="0">
                <a:latin typeface="Arimo"/>
                <a:ea typeface="Arimo"/>
                <a:cs typeface="Arimo"/>
                <a:sym typeface="Arimo"/>
              </a:rPr>
              <a:t>.</a:t>
            </a:r>
            <a:endParaRPr lang="tr-TR" sz="2600" dirty="0"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3761"/>
              </a:lnSpc>
            </a:pPr>
            <a:endParaRPr lang="tr-TR" sz="2600" dirty="0">
              <a:latin typeface="Arimo"/>
              <a:ea typeface="Arimo"/>
              <a:cs typeface="Arimo"/>
              <a:sym typeface="Arimo"/>
            </a:endParaRPr>
          </a:p>
          <a:p>
            <a:r>
              <a:rPr lang="tr-TR" sz="2600" b="1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s(t): </a:t>
            </a:r>
            <a:r>
              <a:rPr lang="tr-TR" sz="26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Zaman düzleminde üretilen, iki farklı frekansın toplamından oluşan DTMF işaretidir.</a:t>
            </a:r>
          </a:p>
          <a:p>
            <a:r>
              <a:rPr lang="tr-TR" sz="2600" b="1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A (Genlik): </a:t>
            </a:r>
            <a:r>
              <a:rPr lang="tr-TR" sz="26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Ses şiddetidir; cızırtıyı (</a:t>
            </a:r>
            <a:r>
              <a:rPr lang="tr-TR" sz="2600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clipping</a:t>
            </a:r>
            <a:r>
              <a:rPr lang="tr-TR" sz="26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) önlemek için 0.5 olarak normalize edilmiştir.</a:t>
            </a:r>
          </a:p>
          <a:p>
            <a:r>
              <a:rPr lang="tr-TR" sz="2600" b="1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f_{</a:t>
            </a:r>
            <a:r>
              <a:rPr lang="tr-TR" sz="2600" b="1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low</a:t>
            </a:r>
            <a:r>
              <a:rPr lang="tr-TR" sz="2600" b="1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}: </a:t>
            </a:r>
            <a:r>
              <a:rPr lang="tr-TR" sz="26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Harfin bulunduğu satırı temsil eden düşük frekans bileşenidir (700-1050 Hz).</a:t>
            </a:r>
          </a:p>
          <a:p>
            <a:r>
              <a:rPr lang="tr-TR" sz="2600" b="1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f_{</a:t>
            </a:r>
            <a:r>
              <a:rPr lang="tr-TR" sz="2600" b="1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high</a:t>
            </a:r>
            <a:r>
              <a:rPr lang="tr-TR" sz="2600" b="1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}: </a:t>
            </a:r>
            <a:r>
              <a:rPr lang="tr-TR" sz="26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Harfin bulunduğu sütunu temsil eden yüksek frekans bileşenidir (1200-1730 Hz).</a:t>
            </a:r>
          </a:p>
          <a:p>
            <a:r>
              <a:rPr lang="tr-TR" sz="2600" b="1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t: </a:t>
            </a:r>
            <a:r>
              <a:rPr lang="tr-TR" sz="26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İşaretin örnekleme hızıyla (</a:t>
            </a:r>
            <a:r>
              <a:rPr lang="tr-TR" sz="2600" dirty="0" err="1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F_s</a:t>
            </a:r>
            <a:r>
              <a:rPr lang="tr-TR" sz="2600" dirty="0"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) orantılı ilerleyen anlık zaman parametresidir.</a:t>
            </a:r>
          </a:p>
          <a:p>
            <a:pPr algn="l">
              <a:lnSpc>
                <a:spcPts val="3761"/>
              </a:lnSpc>
            </a:pPr>
            <a:endParaRPr lang="en-US" sz="2600" dirty="0"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10" name="Resim 9" descr="yazı tipi, metin, grafik, tipografi içeren bir resim&#10;&#10;Yapay zeka tarafından oluşturulmuş içerik yanlış olabilir.">
            <a:extLst>
              <a:ext uri="{FF2B5EF4-FFF2-40B4-BE49-F238E27FC236}">
                <a16:creationId xmlns:a16="http://schemas.microsoft.com/office/drawing/2014/main" id="{1FEF573D-857B-B970-A6CD-659A6358A3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98954" y="5677191"/>
            <a:ext cx="4572638" cy="1057423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6D286A20-05E2-AA46-2312-938A580C60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56179" y="7268305"/>
            <a:ext cx="8258188" cy="7880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0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2066375" flipH="1">
            <a:off x="1103015" y="505289"/>
            <a:ext cx="1045872" cy="1879836"/>
          </a:xfrm>
          <a:custGeom>
            <a:avLst/>
            <a:gdLst/>
            <a:ahLst/>
            <a:cxnLst/>
            <a:rect l="l" t="t" r="r" b="b"/>
            <a:pathLst>
              <a:path w="1045872" h="1879836">
                <a:moveTo>
                  <a:pt x="1045873" y="0"/>
                </a:moveTo>
                <a:lnTo>
                  <a:pt x="0" y="0"/>
                </a:lnTo>
                <a:lnTo>
                  <a:pt x="0" y="1879836"/>
                </a:lnTo>
                <a:lnTo>
                  <a:pt x="1045873" y="1879836"/>
                </a:lnTo>
                <a:lnTo>
                  <a:pt x="104587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 rot="-257350" flipH="1">
            <a:off x="15684044" y="660410"/>
            <a:ext cx="1753759" cy="1403007"/>
          </a:xfrm>
          <a:custGeom>
            <a:avLst/>
            <a:gdLst/>
            <a:ahLst/>
            <a:cxnLst/>
            <a:rect l="l" t="t" r="r" b="b"/>
            <a:pathLst>
              <a:path w="1753759" h="1403007">
                <a:moveTo>
                  <a:pt x="1753759" y="0"/>
                </a:moveTo>
                <a:lnTo>
                  <a:pt x="0" y="0"/>
                </a:lnTo>
                <a:lnTo>
                  <a:pt x="0" y="1403007"/>
                </a:lnTo>
                <a:lnTo>
                  <a:pt x="1753759" y="1403007"/>
                </a:lnTo>
                <a:lnTo>
                  <a:pt x="175375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3094414" y="596792"/>
            <a:ext cx="11735000" cy="1096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9"/>
              </a:lnSpc>
            </a:pPr>
            <a:r>
              <a:rPr lang="en-US" sz="7169" b="1" dirty="0">
                <a:solidFill>
                  <a:srgbClr val="343537"/>
                </a:solidFill>
                <a:latin typeface="เกณฑ์ Bold"/>
                <a:ea typeface="เกณฑ์ Bold"/>
                <a:cs typeface="เกณฑ์ Bold"/>
                <a:sym typeface="เกณฑ์ Bold"/>
              </a:rPr>
              <a:t>YÖNTEM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6084842"/>
            <a:ext cx="8077200" cy="3949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Türk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alfabesindeki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29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harf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ve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boşluk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karakteri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dahil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toplam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30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karakter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için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benzersiz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frekans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çiftleri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tanımlanmıştır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2774"/>
              </a:lnSpc>
            </a:pPr>
            <a:endParaRPr lang="en-US" sz="2499" dirty="0">
              <a:solidFill>
                <a:srgbClr val="343537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774"/>
              </a:lnSpc>
            </a:pP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Düşük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frekans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grubu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(700-1050 Hz)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ve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yüksek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frekans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grubu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(1200-1730 Hz)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kullanılarak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6x5'lik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matris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oluşturulmuştur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2774"/>
              </a:lnSpc>
            </a:pPr>
            <a:endParaRPr lang="en-US" sz="2499" dirty="0">
              <a:solidFill>
                <a:srgbClr val="343537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774"/>
              </a:lnSpc>
            </a:pP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Sinyaller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44100 Hz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örnekleme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hızında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üretilmiş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, her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harf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40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ms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sürecek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şekilde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ayarlanmış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ve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aralarına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5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ms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boşluk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9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eklenmiştir</a:t>
            </a:r>
            <a:r>
              <a:rPr lang="en-US" sz="249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24124" y="4076700"/>
            <a:ext cx="8153401" cy="51937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46"/>
              </a:lnSpc>
            </a:pP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Parçalara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Bölme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: Ses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kaydı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, her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harfi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ayrı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ayrı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yakalayabilmek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için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40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milisaniyelik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çok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küçük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dilimlere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ayrılır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2746"/>
              </a:lnSpc>
            </a:pPr>
            <a:endParaRPr lang="en-US" sz="2474" dirty="0">
              <a:solidFill>
                <a:srgbClr val="343537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746"/>
              </a:lnSpc>
            </a:pP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Frekans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Analizi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(FFT): Her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dilim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matematiksel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bir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süzgeçten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(FFT)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geçirilerek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içindeki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gizli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notalar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(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frekanslar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)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ortaya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çıkarılır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2746"/>
              </a:lnSpc>
            </a:pPr>
            <a:endParaRPr lang="en-US" sz="2474" dirty="0">
              <a:solidFill>
                <a:srgbClr val="343537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746"/>
              </a:lnSpc>
            </a:pP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En Güçlü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Tonları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Bulma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: Analiz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sonucunda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sinyaldeki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baskın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iki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frekans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tepesi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tespit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edilir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ve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tablodaki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yakın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değerlere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yuvarlanır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l">
              <a:lnSpc>
                <a:spcPts val="2746"/>
              </a:lnSpc>
            </a:pPr>
            <a:endParaRPr lang="en-US" sz="2474" dirty="0">
              <a:solidFill>
                <a:srgbClr val="343537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746"/>
              </a:lnSpc>
            </a:pP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Harfe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Dönüştürmme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Tespit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edilen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bu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frekans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çifti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, 6x5'lik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harf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matrisinde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karşılık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geldiği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karaktere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çevrilerek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metin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geri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elde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74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edilir</a:t>
            </a:r>
            <a:r>
              <a:rPr lang="en-US" sz="2474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633403" y="1974654"/>
            <a:ext cx="11735000" cy="765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dirty="0">
                <a:solidFill>
                  <a:srgbClr val="343537"/>
                </a:solidFill>
                <a:latin typeface="เกณฑ์ Bold"/>
                <a:ea typeface="เกณฑ์ Bold"/>
                <a:cs typeface="เกณฑ์ Bold"/>
                <a:sym typeface="เกณฑ์ Bold"/>
              </a:rPr>
              <a:t>SİNYAL SENTEZLEME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6400" y="1974654"/>
            <a:ext cx="11735000" cy="765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5000" b="1" dirty="0">
                <a:solidFill>
                  <a:srgbClr val="343537"/>
                </a:solidFill>
                <a:latin typeface="เกณฑ์ Bold"/>
                <a:ea typeface="เกณฑ์ Bold"/>
                <a:cs typeface="เกณฑ์ Bold"/>
                <a:sym typeface="เกณฑ์ Bold"/>
              </a:rPr>
              <a:t>KOD ÇÖZME</a:t>
            </a:r>
          </a:p>
        </p:txBody>
      </p:sp>
      <p:pic>
        <p:nvPicPr>
          <p:cNvPr id="14" name="Resim 13">
            <a:extLst>
              <a:ext uri="{FF2B5EF4-FFF2-40B4-BE49-F238E27FC236}">
                <a16:creationId xmlns:a16="http://schemas.microsoft.com/office/drawing/2014/main" id="{195F8F1C-A10F-96F0-8E72-6240972F05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2983418"/>
            <a:ext cx="7467601" cy="24374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7" name="TextBox 8">
            <a:extLst>
              <a:ext uri="{FF2B5EF4-FFF2-40B4-BE49-F238E27FC236}">
                <a16:creationId xmlns:a16="http://schemas.microsoft.com/office/drawing/2014/main" id="{5CE6E43F-A921-9594-B3D7-B47EFCAD6B17}"/>
              </a:ext>
            </a:extLst>
          </p:cNvPr>
          <p:cNvSpPr txBox="1"/>
          <p:nvPr/>
        </p:nvSpPr>
        <p:spPr>
          <a:xfrm rot="16200000">
            <a:off x="5250403" y="5741255"/>
            <a:ext cx="8186983" cy="399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46"/>
              </a:lnSpc>
            </a:pPr>
            <a:r>
              <a:rPr lang="tr-TR" sz="4800" b="1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------------------------------------</a:t>
            </a:r>
            <a:endParaRPr lang="en-US" sz="4800" b="1" dirty="0">
              <a:solidFill>
                <a:srgbClr val="343537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0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7948" y="8140955"/>
            <a:ext cx="1783900" cy="1847731"/>
          </a:xfrm>
          <a:custGeom>
            <a:avLst/>
            <a:gdLst/>
            <a:ahLst/>
            <a:cxnLst/>
            <a:rect l="l" t="t" r="r" b="b"/>
            <a:pathLst>
              <a:path w="1783900" h="1847731">
                <a:moveTo>
                  <a:pt x="0" y="0"/>
                </a:moveTo>
                <a:lnTo>
                  <a:pt x="1783900" y="0"/>
                </a:lnTo>
                <a:lnTo>
                  <a:pt x="1783900" y="1847730"/>
                </a:lnTo>
                <a:lnTo>
                  <a:pt x="0" y="18477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 flipH="1">
            <a:off x="15897516" y="8744603"/>
            <a:ext cx="2207243" cy="1244082"/>
          </a:xfrm>
          <a:custGeom>
            <a:avLst/>
            <a:gdLst/>
            <a:ahLst/>
            <a:cxnLst/>
            <a:rect l="l" t="t" r="r" b="b"/>
            <a:pathLst>
              <a:path w="2207243" h="1244082">
                <a:moveTo>
                  <a:pt x="2207243" y="0"/>
                </a:moveTo>
                <a:lnTo>
                  <a:pt x="0" y="0"/>
                </a:lnTo>
                <a:lnTo>
                  <a:pt x="0" y="1244082"/>
                </a:lnTo>
                <a:lnTo>
                  <a:pt x="2207243" y="1244082"/>
                </a:lnTo>
                <a:lnTo>
                  <a:pt x="22072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Freeform 4"/>
          <p:cNvSpPr/>
          <p:nvPr/>
        </p:nvSpPr>
        <p:spPr>
          <a:xfrm rot="2066375" flipH="1">
            <a:off x="1103015" y="505289"/>
            <a:ext cx="1045872" cy="1879836"/>
          </a:xfrm>
          <a:custGeom>
            <a:avLst/>
            <a:gdLst/>
            <a:ahLst/>
            <a:cxnLst/>
            <a:rect l="l" t="t" r="r" b="b"/>
            <a:pathLst>
              <a:path w="1045872" h="1879836">
                <a:moveTo>
                  <a:pt x="1045873" y="0"/>
                </a:moveTo>
                <a:lnTo>
                  <a:pt x="0" y="0"/>
                </a:lnTo>
                <a:lnTo>
                  <a:pt x="0" y="1879836"/>
                </a:lnTo>
                <a:lnTo>
                  <a:pt x="1045873" y="1879836"/>
                </a:lnTo>
                <a:lnTo>
                  <a:pt x="104587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5" name="Freeform 5"/>
          <p:cNvSpPr/>
          <p:nvPr/>
        </p:nvSpPr>
        <p:spPr>
          <a:xfrm rot="-257350" flipH="1">
            <a:off x="15684044" y="660410"/>
            <a:ext cx="1753759" cy="1403007"/>
          </a:xfrm>
          <a:custGeom>
            <a:avLst/>
            <a:gdLst/>
            <a:ahLst/>
            <a:cxnLst/>
            <a:rect l="l" t="t" r="r" b="b"/>
            <a:pathLst>
              <a:path w="1753759" h="1403007">
                <a:moveTo>
                  <a:pt x="1753759" y="0"/>
                </a:moveTo>
                <a:lnTo>
                  <a:pt x="0" y="0"/>
                </a:lnTo>
                <a:lnTo>
                  <a:pt x="0" y="1403007"/>
                </a:lnTo>
                <a:lnTo>
                  <a:pt x="1753759" y="1403007"/>
                </a:lnTo>
                <a:lnTo>
                  <a:pt x="175375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grpSp>
        <p:nvGrpSpPr>
          <p:cNvPr id="6" name="Group 6"/>
          <p:cNvGrpSpPr/>
          <p:nvPr/>
        </p:nvGrpSpPr>
        <p:grpSpPr>
          <a:xfrm>
            <a:off x="1131374" y="3112358"/>
            <a:ext cx="667886" cy="66788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43537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7494" tIns="37494" rIns="37494" bIns="37494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005506" y="3263488"/>
            <a:ext cx="667886" cy="66788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43537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7494" tIns="37494" rIns="37494" bIns="37494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47520" y="3263488"/>
            <a:ext cx="667886" cy="66788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43537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7494" tIns="37494" rIns="37494" bIns="37494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514479" y="4122584"/>
            <a:ext cx="6022266" cy="1003908"/>
          </a:xfrm>
          <a:custGeom>
            <a:avLst/>
            <a:gdLst/>
            <a:ahLst/>
            <a:cxnLst/>
            <a:rect l="l" t="t" r="r" b="b"/>
            <a:pathLst>
              <a:path w="6022266" h="1003908">
                <a:moveTo>
                  <a:pt x="0" y="0"/>
                </a:moveTo>
                <a:lnTo>
                  <a:pt x="6022267" y="0"/>
                </a:lnTo>
                <a:lnTo>
                  <a:pt x="6022267" y="1003908"/>
                </a:lnTo>
                <a:lnTo>
                  <a:pt x="0" y="10039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r="-1029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6" name="Freeform 16"/>
          <p:cNvSpPr/>
          <p:nvPr/>
        </p:nvSpPr>
        <p:spPr>
          <a:xfrm>
            <a:off x="6634081" y="4160102"/>
            <a:ext cx="5019839" cy="1932780"/>
          </a:xfrm>
          <a:custGeom>
            <a:avLst/>
            <a:gdLst/>
            <a:ahLst/>
            <a:cxnLst/>
            <a:rect l="l" t="t" r="r" b="b"/>
            <a:pathLst>
              <a:path w="5019839" h="1932780">
                <a:moveTo>
                  <a:pt x="0" y="0"/>
                </a:moveTo>
                <a:lnTo>
                  <a:pt x="5019838" y="0"/>
                </a:lnTo>
                <a:lnTo>
                  <a:pt x="5019838" y="1932780"/>
                </a:lnTo>
                <a:lnTo>
                  <a:pt x="0" y="19327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102" t="-4593" r="-1626" b="-2864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7" name="Freeform 17"/>
          <p:cNvSpPr/>
          <p:nvPr/>
        </p:nvSpPr>
        <p:spPr>
          <a:xfrm>
            <a:off x="12016280" y="4095405"/>
            <a:ext cx="5483193" cy="2096191"/>
          </a:xfrm>
          <a:custGeom>
            <a:avLst/>
            <a:gdLst/>
            <a:ahLst/>
            <a:cxnLst/>
            <a:rect l="l" t="t" r="r" b="b"/>
            <a:pathLst>
              <a:path w="5483193" h="2096191">
                <a:moveTo>
                  <a:pt x="0" y="0"/>
                </a:moveTo>
                <a:lnTo>
                  <a:pt x="5483193" y="0"/>
                </a:lnTo>
                <a:lnTo>
                  <a:pt x="5483193" y="2096190"/>
                </a:lnTo>
                <a:lnTo>
                  <a:pt x="0" y="209619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8" name="TextBox 18"/>
          <p:cNvSpPr txBox="1"/>
          <p:nvPr/>
        </p:nvSpPr>
        <p:spPr>
          <a:xfrm>
            <a:off x="3276500" y="2003340"/>
            <a:ext cx="11735000" cy="1096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69"/>
              </a:lnSpc>
            </a:pPr>
            <a:r>
              <a:rPr lang="en-US" sz="7169" b="1">
                <a:solidFill>
                  <a:srgbClr val="343537"/>
                </a:solidFill>
                <a:latin typeface="เกณฑ์ Bold"/>
                <a:ea typeface="เกณฑ์ Bold"/>
                <a:cs typeface="เกณฑ์ Bold"/>
                <a:sym typeface="เกณฑ์ Bold"/>
              </a:rPr>
              <a:t>GRAFİKLER VE ANALİZ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76091" y="6496736"/>
            <a:ext cx="4432986" cy="276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sz="2439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Zaman Domeni: Ses sinyalinin genlik-zaman grafiği incelendiğinde, harfler arasındaki boşluklar ve sinüzoidal dalgaların birleşimi net bir şekilde görülmektedir.</a:t>
            </a:r>
          </a:p>
          <a:p>
            <a:pPr algn="ctr">
              <a:lnSpc>
                <a:spcPts val="2708"/>
              </a:lnSpc>
            </a:pPr>
            <a:endParaRPr lang="en-US" sz="2439">
              <a:solidFill>
                <a:srgbClr val="343537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2708"/>
              </a:lnSpc>
            </a:pPr>
            <a:endParaRPr lang="en-US" sz="2439">
              <a:solidFill>
                <a:srgbClr val="343537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52923" y="3253963"/>
            <a:ext cx="646337" cy="52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3408" b="1">
                <a:solidFill>
                  <a:srgbClr val="FFFEFF"/>
                </a:solidFill>
                <a:latin typeface="เกณฑ์ Bold"/>
                <a:ea typeface="เกณฑ์ Bold"/>
                <a:cs typeface="เกณฑ์ Bold"/>
                <a:sym typeface="เกณฑ์ Bold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16280" y="3405094"/>
            <a:ext cx="646337" cy="52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3408" b="1">
                <a:solidFill>
                  <a:srgbClr val="FFFEFF"/>
                </a:solidFill>
                <a:latin typeface="เกณฑ์ Bold"/>
                <a:ea typeface="เกณฑ์ Bold"/>
                <a:cs typeface="เกณฑ์ Bold"/>
                <a:sym typeface="เกณฑ์ Bold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69069" y="3405094"/>
            <a:ext cx="646337" cy="52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sz="3408" b="1">
                <a:solidFill>
                  <a:srgbClr val="FFFEFF"/>
                </a:solidFill>
                <a:latin typeface="เกณฑ์ Bold"/>
                <a:ea typeface="เกณฑ์ Bold"/>
                <a:cs typeface="เกณฑ์ Bold"/>
                <a:sym typeface="เกณฑ์ Bold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85564" y="6496736"/>
            <a:ext cx="4432986" cy="310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FFT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Spektrumu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: FFT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analizi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sonucunda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, her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harfe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karşılık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gelen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iki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temel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frekans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bileşeni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spektrum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üzerinde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belirgin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tepeler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oluşturmaktadır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. Bu,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kod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çözme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işleminin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doğruluğunu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kanıtlar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algn="ctr">
              <a:lnSpc>
                <a:spcPts val="2708"/>
              </a:lnSpc>
            </a:pPr>
            <a:endParaRPr lang="en-US" sz="2439" dirty="0">
              <a:solidFill>
                <a:srgbClr val="343537"/>
              </a:solidFill>
              <a:latin typeface="Arimo"/>
              <a:ea typeface="Arimo"/>
              <a:cs typeface="Arimo"/>
              <a:sym typeface="Arimo"/>
            </a:endParaRPr>
          </a:p>
          <a:p>
            <a:pPr algn="ctr">
              <a:lnSpc>
                <a:spcPts val="2708"/>
              </a:lnSpc>
            </a:pPr>
            <a:endParaRPr lang="en-US" sz="2439" dirty="0">
              <a:solidFill>
                <a:srgbClr val="343537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339448" y="6515445"/>
            <a:ext cx="4432986" cy="2075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</a:pP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DTMF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Matrisi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Renkli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yoğunluk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haritası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(Heatmap), hangi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frekans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çiftlerinin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aktif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olduğunu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görselleştirerek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sistemin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çalışma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kararlılığını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439" dirty="0" err="1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göstermektedir</a:t>
            </a:r>
            <a:r>
              <a:rPr lang="en-US" sz="2439" dirty="0">
                <a:solidFill>
                  <a:srgbClr val="343537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0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367060"/>
            <a:ext cx="16400274" cy="9552881"/>
          </a:xfrm>
          <a:custGeom>
            <a:avLst/>
            <a:gdLst/>
            <a:ahLst/>
            <a:cxnLst/>
            <a:rect l="l" t="t" r="r" b="b"/>
            <a:pathLst>
              <a:path w="16400274" h="9552881">
                <a:moveTo>
                  <a:pt x="0" y="0"/>
                </a:moveTo>
                <a:lnTo>
                  <a:pt x="16400274" y="0"/>
                </a:lnTo>
                <a:lnTo>
                  <a:pt x="16400274" y="9552880"/>
                </a:lnTo>
                <a:lnTo>
                  <a:pt x="0" y="9552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0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11907" y="329841"/>
            <a:ext cx="13864186" cy="9627318"/>
          </a:xfrm>
          <a:custGeom>
            <a:avLst/>
            <a:gdLst/>
            <a:ahLst/>
            <a:cxnLst/>
            <a:rect l="l" t="t" r="r" b="b"/>
            <a:pathLst>
              <a:path w="13864186" h="9627318">
                <a:moveTo>
                  <a:pt x="0" y="0"/>
                </a:moveTo>
                <a:lnTo>
                  <a:pt x="13864186" y="0"/>
                </a:lnTo>
                <a:lnTo>
                  <a:pt x="13864186" y="9627318"/>
                </a:lnTo>
                <a:lnTo>
                  <a:pt x="0" y="9627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9609"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423</Words>
  <Application>Microsoft Office PowerPoint</Application>
  <PresentationFormat>Özel</PresentationFormat>
  <Paragraphs>35</Paragraphs>
  <Slides>7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2" baseType="lpstr">
      <vt:lpstr>เกณฑ์ Bold</vt:lpstr>
      <vt:lpstr>Arimo</vt:lpstr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METİNDEN SESE VE SESTEN METİNE DMTF UYGULAMASI</dc:title>
  <cp:lastModifiedBy>MERYEM SUDENAZ KARTAL</cp:lastModifiedBy>
  <cp:revision>2</cp:revision>
  <dcterms:created xsi:type="dcterms:W3CDTF">2006-08-16T00:00:00Z</dcterms:created>
  <dcterms:modified xsi:type="dcterms:W3CDTF">2026-03-02T09:04:54Z</dcterms:modified>
  <dc:identifier>DAHCunbTsko</dc:identifier>
</cp:coreProperties>
</file>